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02C39A"/>
                </a:solidFill>
                <a:latin typeface="Georgia"/>
              </a:defRPr>
            </a:pPr>
            <a:r>
              <a:t>ATLAS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alibri"/>
              </a:defRPr>
            </a:pPr>
            <a:r>
              <a:t>Inteligencia Artificial para el Control de Tráfico Urbano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4F8"/>
                </a:solidFill>
                <a:latin typeface="Calibri"/>
              </a:defRPr>
            </a:pPr>
            <a:r>
              <a:t>Plan Comercial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0F4F8"/>
                </a:solidFill>
                <a:latin typeface="Calibri"/>
              </a:defRPr>
            </a:pPr>
            <a:r>
              <a:t>Esteban Marco</a:t>
            </a:r>
            <a:br/>
            <a:r>
              <a:t>esteban3marco@gmail.com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  <a:latin typeface="Calibri"/>
              </a:defRPr>
            </a:pPr>
            <a:r>
              <a:t>Las ciudades pierden €2.3B al año en congestión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286000" cy="109728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Tiempo perdido</a:t>
            </a:r>
            <a:br/>
            <a:r>
              <a:t>en tráfico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26080"/>
            <a:ext cx="2286000" cy="10972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€1,200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Costo anual</a:t>
            </a:r>
            <a:br/>
            <a:r>
              <a:t>por conductor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2286000" cy="109728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CO₂ evitable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C7293"/>
                </a:solidFill>
                <a:latin typeface="Calibri"/>
              </a:defRPr>
            </a:pPr>
            <a:r>
              <a:t>Necesitamos soluciones inteligentes que optimicen el flujo de tráfico en tiempo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Nuestra Solución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Calibri"/>
              </a:defRPr>
            </a:pPr>
            <a:r>
              <a:t>ATLAS Pro: Control de tráfico basado en IA con aprendizaje profundo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Deep RL (QMIX)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Algoritmos multi-agente para optimización distribuida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Adaptive Green 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Onda verde adaptativa en tiempo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Edge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Sin dependencia de nube, procesamiento local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006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NTCIP/UTMC Compatible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Compatible con estándares de tráfico internacionales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2286000" cy="2286000"/>
          </a:xfrm>
          <a:prstGeom prst="rect">
            <a:avLst/>
          </a:prstGeom>
          <a:solidFill>
            <a:srgbClr val="065A82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Sensores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Recopilan datos de tráfico en tiempo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286000"/>
            <a:ext cx="2286000" cy="2286000"/>
          </a:xfrm>
          <a:prstGeom prst="rect">
            <a:avLst/>
          </a:prstGeom>
          <a:solidFill>
            <a:srgbClr val="1C7293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IA en el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Procesamiento local con redes neuronales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286000"/>
            <a:ext cx="2286000" cy="2286000"/>
          </a:xfrm>
          <a:prstGeom prst="rect">
            <a:avLst/>
          </a:prstGeom>
          <a:solidFill>
            <a:srgbClr val="065A82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Optimización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Control adaptativo de semáforos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Resultados Demostrados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3474720" cy="1371600"/>
          </a:xfrm>
          <a:prstGeom prst="rect">
            <a:avLst/>
          </a:prstGeom>
          <a:solidFill>
            <a:srgbClr val="F0F4F8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2C39A"/>
                </a:solidFill>
                <a:latin typeface="Georgia"/>
              </a:defRPr>
            </a:pPr>
            <a:r>
              <a:t>-32%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5A82"/>
                </a:solidFill>
                <a:latin typeface="Calibri"/>
              </a:defRPr>
            </a:pPr>
            <a:r>
              <a:t>Congestión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286000"/>
            <a:ext cx="3474720" cy="1371600"/>
          </a:xfrm>
          <a:prstGeom prst="rect">
            <a:avLst/>
          </a:prstGeom>
          <a:solidFill>
            <a:srgbClr val="F0F4F8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468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2C39A"/>
                </a:solidFill>
                <a:latin typeface="Georgia"/>
              </a:defRPr>
            </a:pPr>
            <a:r>
              <a:t>-22%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154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5A82"/>
                </a:solidFill>
                <a:latin typeface="Calibri"/>
              </a:defRPr>
            </a:pPr>
            <a:r>
              <a:t>Emisiones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3474720" cy="1371600"/>
          </a:xfrm>
          <a:prstGeom prst="rect">
            <a:avLst/>
          </a:prstGeom>
          <a:solidFill>
            <a:srgbClr val="F0F4F8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2C39A"/>
                </a:solidFill>
                <a:latin typeface="Georgia"/>
              </a:defRPr>
            </a:pPr>
            <a:r>
              <a:t>-45%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5A82"/>
                </a:solidFill>
                <a:latin typeface="Calibri"/>
              </a:defRPr>
            </a:pPr>
            <a:r>
              <a:t>Tiempo de espera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931920"/>
            <a:ext cx="3474720" cy="1371600"/>
          </a:xfrm>
          <a:prstGeom prst="rect">
            <a:avLst/>
          </a:prstGeom>
          <a:solidFill>
            <a:srgbClr val="F0F4F8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2C39A"/>
                </a:solidFill>
                <a:latin typeface="Georgia"/>
              </a:defRPr>
            </a:pPr>
            <a:r>
              <a:t>12-18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800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5A82"/>
                </a:solidFill>
                <a:latin typeface="Calibri"/>
              </a:defRPr>
            </a:pPr>
            <a:r>
              <a:t>ROI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Mercado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384048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Calibri"/>
              </a:defRPr>
            </a:pPr>
            <a:r>
              <a:t>Municipios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500+ ciudades europeas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103120"/>
            <a:ext cx="384048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Calibri"/>
              </a:defRPr>
            </a:pPr>
            <a:r>
              <a:t>ITS Integrators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88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Proveedores de soluciones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384048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Calibri"/>
              </a:defRPr>
            </a:pPr>
            <a:r>
              <a:t>Min. Transportes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Organismos públicos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931920"/>
            <a:ext cx="384048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Calibri"/>
              </a:defRPr>
            </a:pPr>
            <a:r>
              <a:t>Operadores Autopistas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617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B132B"/>
                </a:solidFill>
                <a:latin typeface="Calibri"/>
              </a:defRPr>
            </a:pPr>
            <a:r>
              <a:t>Carreteras de peaje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C39A"/>
                </a:solidFill>
                <a:latin typeface="Calibri"/>
              </a:defRPr>
            </a:pPr>
            <a:r>
              <a:t>TAM (Total Addressable Market): €2.4B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Modelo de Negocio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solidFill>
            <a:srgbClr val="F0F4F8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C39A"/>
                </a:solidFill>
                <a:latin typeface="Georgia"/>
              </a:defRPr>
            </a:pPr>
            <a:r>
              <a:t>€49-89/semáforo/mes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94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B132B"/>
                </a:solidFill>
                <a:latin typeface="Calibri"/>
              </a:defRPr>
            </a:pPr>
            <a:r>
              <a:t>Flexible, basado en uso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0F4F8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Licencia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C39A"/>
                </a:solidFill>
                <a:latin typeface="Georgia"/>
              </a:defRPr>
            </a:pPr>
            <a:r>
              <a:t>€2,500/semáforo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B132B"/>
                </a:solidFill>
                <a:latin typeface="Calibri"/>
              </a:defRPr>
            </a:pPr>
            <a:r>
              <a:t>Pago único, implementación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8229600" cy="1097280"/>
          </a:xfrm>
          <a:prstGeom prst="rect">
            <a:avLst/>
          </a:prstGeom>
          <a:solidFill>
            <a:srgbClr val="F0F4F8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Consultoría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9377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C39A"/>
                </a:solidFill>
                <a:latin typeface="Georgia"/>
              </a:defRPr>
            </a:pPr>
            <a:r>
              <a:t>€150/hora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93775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B132B"/>
                </a:solidFill>
                <a:latin typeface="Calibri"/>
              </a:defRPr>
            </a:pPr>
            <a:r>
              <a:t>Integración personalizada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Ventaja Competitiva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C7293"/>
                </a:solidFill>
                <a:latin typeface="Calibri"/>
              </a:defRPr>
            </a:pPr>
            <a:r>
              <a:t>vs SCOOT / SCATS / InSync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32B"/>
                </a:solidFill>
                <a:latin typeface="Calibri"/>
              </a:defRPr>
            </a:pPr>
            <a:r>
              <a:t>60-70% más económico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199"/>
            <a:ext cx="320040" cy="3200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32B"/>
                </a:solidFill>
                <a:latin typeface="Calibri"/>
              </a:defRPr>
            </a:pPr>
            <a:r>
              <a:t>Edge AI (sin dependencia de nube)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79"/>
            <a:ext cx="320040" cy="3200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29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32B"/>
                </a:solidFill>
                <a:latin typeface="Calibri"/>
              </a:defRPr>
            </a:pPr>
            <a:r>
              <a:t>IA Explicable (MUSE)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069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32B"/>
                </a:solidFill>
                <a:latin typeface="Calibri"/>
              </a:defRPr>
            </a:pPr>
            <a:r>
              <a:t>Multi-agente QMIX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Roadmap 12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828800" cy="22860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Pilotos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2560320"/>
            <a:ext cx="1828800" cy="22860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697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3832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Lanzamiento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560320"/>
            <a:ext cx="1828800" cy="228600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697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LATAM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560320"/>
            <a:ext cx="1828800" cy="22860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697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3832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Series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Proyecciones Financieras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C7293"/>
                </a:solidFill>
                <a:latin typeface="Calibri"/>
              </a:defRPr>
            </a:pPr>
            <a:r>
              <a:t>ARR proyectado (Annual Recurring Revenue) - 3 años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587828" cy="54864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514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65A82"/>
                </a:solidFill>
                <a:latin typeface="Calibri"/>
              </a:defRPr>
            </a:pPr>
            <a:r>
              <a:t>Año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7988" y="2514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Georgia"/>
              </a:defRPr>
            </a:pPr>
            <a:r>
              <a:t>€180K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2351314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6118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65A82"/>
                </a:solidFill>
                <a:latin typeface="Calibri"/>
              </a:defRPr>
            </a:pPr>
            <a:r>
              <a:t>Año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74" y="3611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7293"/>
                </a:solidFill>
                <a:latin typeface="Georgia"/>
              </a:defRPr>
            </a:pPr>
            <a:r>
              <a:t>€720K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663440"/>
            <a:ext cx="6858000" cy="5486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709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65A82"/>
                </a:solidFill>
                <a:latin typeface="Calibri"/>
              </a:defRPr>
            </a:pPr>
            <a:r>
              <a:t>Año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4709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C39A"/>
                </a:solidFill>
                <a:latin typeface="Georgia"/>
              </a:defRPr>
            </a:pPr>
            <a:r>
              <a:t>€2.1M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Georgia"/>
              </a:defRPr>
            </a:pPr>
            <a:r>
              <a:t>Por Qué Ahora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0"/>
          </a:xfrm>
          <a:prstGeom prst="rect">
            <a:avLst/>
          </a:prstGeom>
          <a:ln w="508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Smart City Megatrend - Inversión creciente en ciudades inteligentes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EU Green Deal - Fondos europeos para sostenibilidad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Rediseño post-COVID - Reimaginación del transporte urbano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C39A"/>
                </a:solidFill>
                <a:latin typeface="Georgia"/>
              </a:defRPr>
            </a:pPr>
            <a:r>
              <a:t>Contacto &amp;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Esteban Marco</a:t>
            </a:r>
          </a:p>
          <a:p>
            <a:pPr>
              <a:spcAft>
                <a:spcPts val="2000"/>
              </a:spcAft>
              <a:defRPr sz="1800">
                <a:solidFill>
                  <a:srgbClr val="F0F4F8"/>
                </a:solidFill>
                <a:latin typeface="Calibri"/>
              </a:defRPr>
            </a:pPr>
            <a:r>
              <a:t>esteban3marco@gmail.com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  <a:latin typeface="Georgia"/>
              </a:defRPr>
            </a:pPr>
            <a:r>
              <a:t>Solicite una demo gratuita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