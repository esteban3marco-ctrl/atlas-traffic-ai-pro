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ATLAS Pro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31520" y="21488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Traffic Light Adaptive System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Reinforcement Learning for Smart Cities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383280"/>
            <a:ext cx="32004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657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Esteban Marco  |  February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4206240"/>
            <a:ext cx="128016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2062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v4.0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congestion costs cities billions annually and increases emissions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2377440" cy="210312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37360"/>
            <a:ext cx="237744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11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$87B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cost of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(USA)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0" y="1737360"/>
            <a:ext cx="2377440" cy="210312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0" y="1737360"/>
            <a:ext cx="237744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2011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25%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3474720" y="2880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CO2 from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congestion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737360"/>
            <a:ext cx="2377440" cy="210312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737360"/>
            <a:ext cx="237744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2011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6217920" y="2880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lights use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timing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114800"/>
            <a:ext cx="7680960" cy="64008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11480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systems react to fixed schedules. ATLAS learns and adapts in real-time.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155448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50876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91640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RL Engine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91640" y="17830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Dueling DDQN + Noisy Networks + Prioritized Experience Replay. Learns optimal signal timing from millions of simulated interactions.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657600" cy="155448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83480" y="150876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0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Metacognition (MUSE)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5000" y="17830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Self-aware AI that detects uncertainty and activates safe fallbacks. Unique in the market.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017520"/>
            <a:ext cx="3657600" cy="155448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60120" y="3337560"/>
            <a:ext cx="548640" cy="5486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91640" y="3200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Multi-Intersection (QMIX)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91640" y="36118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entire networks with monotonic value decomposition. Green wave optimization.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3017520"/>
            <a:ext cx="3657600" cy="155448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83480" y="333756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15000" y="3200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Edge-Ready (&lt;5ms)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715000" y="36118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INT8 quantization runs on Raspberry Pi 4 or Jetson Nano. No cloud dependency.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Proven Results: 5 Training Rounds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1280160"/>
                <a:gridCol w="146304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Simple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76.9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293.7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+282%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OPTIMAL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Night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291.8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717.2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+146%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OPTIMAL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Heavy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-35.1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118.1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+437%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6B6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STRONG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Emergency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118.9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424.4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+257%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OPTIMAL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Event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-73.1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5.8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+108%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IMPROVING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Avenue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-1.4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257.4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+18477%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OPTIMAL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31520" y="3931920"/>
            <a:ext cx="1828800" cy="100584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31520" y="3977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6/6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31520" y="4434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Mastered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743200" y="3931920"/>
            <a:ext cx="1828800" cy="100584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743200" y="3977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1.2M+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743200" y="4434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3931920"/>
            <a:ext cx="1828800" cy="100584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754880" y="3977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&lt;15ms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4754880" y="4434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766560" y="3931920"/>
            <a:ext cx="1828800" cy="100584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766560" y="3977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94.2%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6766560" y="4434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329184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3657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ML Engine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182880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Dueling DDQN + PER + N-Step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Networks (auto-exploration)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alternative agent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QMIX multi-agent coordination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 v2 metacognition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explainability engine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FP32/INT8 export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657600" cy="329184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188720"/>
            <a:ext cx="36576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0" y="182880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WebSocket real-time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multi-stage (ARM/x64)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TimescaleDB time-series metrics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NTCIP/UTMC protocol adapters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model updates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+ role-based dashboard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automated reports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ATLAS Wins</a:t>
            </a:r>
            <a:endParaRPr lang="en-US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  <a:gridCol w="1463040"/>
                <a:gridCol w="146304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ATLAS Pro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InSync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RL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Self-aware 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MUSE v2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QMIX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Explainable 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XAI+SHAP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deploy &lt;5ms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wave adapt.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31520" y="4023360"/>
            <a:ext cx="7680960" cy="73152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5" name="Text 2"/>
          <p:cNvSpPr/>
          <p:nvPr/>
        </p:nvSpPr>
        <p:spPr>
          <a:xfrm>
            <a:off x="1005840" y="402336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is the only system combining RL + metacognition + explainability + edge deployment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Model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2468880" cy="256032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246888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Municipal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50-200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EUR/month/intersection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support + model updates.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intersections = 5-20K EUR/month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0" y="1188720"/>
            <a:ext cx="2468880" cy="256032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188720"/>
            <a:ext cx="246888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Integrator License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1828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License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474720" y="2286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per-unit royalty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0" y="2697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RL engine to Siemens, Kapsch,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Swarco. They integrate in hardware.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188720"/>
            <a:ext cx="2468880" cy="256032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188720"/>
            <a:ext cx="246888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+ Convert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17920" y="1828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217920" y="2286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3-6 month pilot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2697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savings in real pilot.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case study. Convert to SaaS.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" y="42976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Small/Med Municipalities  |  50-500 int.  |  50-150 EUR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455371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Cities  |  500-5000 int.  |  30-80 EUR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4809744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Integrators (Siemens, etc.)  |  Global  |  License + royalty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2377440"/>
            <a:ext cx="640080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224028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1234440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1-2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Demo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5 training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deploy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54680" y="2240280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3-4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0" y="1965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51760" y="26974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NTCIP adapter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pilot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tests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74920" y="2240280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5-8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3440" y="1965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26974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Multi-intersection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wave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95160" y="2240280"/>
            <a:ext cx="274320" cy="2743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9-12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1965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26974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pilot city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5-20K EUR/mo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4023360"/>
            <a:ext cx="7680960" cy="73152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05840" y="402336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projection: 0 EUR (pilot) → 5-20K EUR/month by month 12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Edge Deployment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runs directly on intersection hardware. No cloud needed.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468880" cy="246888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246888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4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EUR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560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Latency: 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2560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&lt;25ms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2926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Power: 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2926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3291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20240" y="3291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 Ready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0" y="1554480"/>
            <a:ext cx="2468880" cy="246888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0" y="1554480"/>
            <a:ext cx="246888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1737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Jetson Nano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74720" y="2103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 EUR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49040" y="2560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Latency: 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2560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&lt;8ms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49040" y="2926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Power: 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2926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10W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49040" y="3291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3291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1554480"/>
            <a:ext cx="2468880" cy="246888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1554480"/>
            <a:ext cx="246888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1737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Jetson Orin NX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217920" y="2103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~400 EUR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2560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Latency: 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06640" y="2560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&lt;3ms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92240" y="2926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Power: 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06640" y="2926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15W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92240" y="3291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406640" y="3291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Premium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31520" y="4206240"/>
            <a:ext cx="7680960" cy="59436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5" name="Text 33"/>
          <p:cNvSpPr/>
          <p:nvPr/>
        </p:nvSpPr>
        <p:spPr>
          <a:xfrm>
            <a:off x="1005840" y="42062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model updates  |  Docker ARM64/x86  |  Offline capable  |  NTCIP/UTMC compatible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3F4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Build Smarter Cities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Pro is ready for pilot deployment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2468880" cy="128016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468880"/>
            <a:ext cx="246888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651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Pilot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pilot on 1-3 real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intersections in your city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2468880"/>
            <a:ext cx="2468880" cy="128016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2468880"/>
            <a:ext cx="246888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2651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3017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ATLAS optimize traffic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6 scenarios with SUMO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468880"/>
            <a:ext cx="2468880" cy="128016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2468880"/>
            <a:ext cx="246888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2651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3017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ATLAS into your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traffic infrastructure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0" y="4023360"/>
            <a:ext cx="365760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Esteban Marco  |  esteban3marco@gmail.com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Pro  |  Edge-Ready  |  Explainable  |  Safe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ATLAS Pro - Investor Pitch Deck</dc:title>
  <dc:subject>PptxGenJS Presentation</dc:subject>
  <dc:creator>Esteban Marco</dc:creator>
  <cp:lastModifiedBy>Esteban Marco</cp:lastModifiedBy>
  <cp:revision>1</cp:revision>
  <dcterms:created xsi:type="dcterms:W3CDTF">2026-02-28T10:00:35Z</dcterms:created>
  <dcterms:modified xsi:type="dcterms:W3CDTF">2026-02-28T10:00:35Z</dcterms:modified>
</cp:coreProperties>
</file>